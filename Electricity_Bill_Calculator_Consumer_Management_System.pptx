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9728" cy="4480560"/>
          </a:xfrm>
          <a:prstGeom prst="rect">
            <a:avLst/>
          </a:prstGeom>
          <a:solidFill>
            <a:srgbClr val="30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143000"/>
            <a:ext cx="100584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Electricity Bill Calculator</a:t>
            </a:r>
            <a:br/>
            <a:r>
              <a:t>&amp; Consumer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429000"/>
            <a:ext cx="96012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CDDCEE"/>
                </a:solidFill>
              </a:defRPr>
            </a:pPr>
            <a:r>
              <a:t>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466344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A simple system for consumer records, meter readings, bill calculation and payment tracking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052"/>
                </a:solidFill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32A32"/>
                </a:solidFill>
              </a:defRPr>
            </a:pPr>
            <a:r>
              <a:t>Electricity billing requires accurate meter reading, tariff calculation and consumer record management.</a:t>
            </a:r>
          </a:p>
          <a:p>
            <a:pPr>
              <a:spcAft>
                <a:spcPts val="1200"/>
              </a:spcAft>
              <a:defRPr sz="2000" b="0">
                <a:solidFill>
                  <a:srgbClr val="232A32"/>
                </a:solidFill>
              </a:defRPr>
            </a:pPr>
            <a:r>
              <a:t>Manual billing can be time-consuming and may lead to calculation or record-keeping errors.</a:t>
            </a:r>
          </a:p>
          <a:p>
            <a:pPr>
              <a:spcAft>
                <a:spcPts val="1200"/>
              </a:spcAft>
              <a:defRPr sz="2000" b="0">
                <a:solidFill>
                  <a:srgbClr val="232A32"/>
                </a:solidFill>
              </a:defRPr>
            </a:pPr>
            <a:r>
              <a:t>The proposed system automates bill calculation and maintains consumer information in an organized manner.</a:t>
            </a:r>
          </a:p>
          <a:p>
            <a:pPr>
              <a:spcAft>
                <a:spcPts val="1200"/>
              </a:spcAft>
              <a:defRPr sz="2000" b="0">
                <a:solidFill>
                  <a:srgbClr val="232A32"/>
                </a:solidFill>
              </a:defRPr>
            </a:pPr>
            <a:r>
              <a:t>The system can be implemented as a console, desktop or web-based application.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30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56539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052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32A32"/>
                </a:solidFill>
              </a:defRPr>
            </a:pPr>
            <a:r>
              <a:t>Managing consumer details manually becomes difficult as the number of consumers increases.</a:t>
            </a:r>
          </a:p>
          <a:p>
            <a:pPr>
              <a:spcAft>
                <a:spcPts val="1200"/>
              </a:spcAft>
              <a:defRPr sz="2000" b="0">
                <a:solidFill>
                  <a:srgbClr val="232A32"/>
                </a:solidFill>
              </a:defRPr>
            </a:pPr>
            <a:r>
              <a:t>Electricity charges must be calculated correctly according to applicable consumption slabs.</a:t>
            </a:r>
          </a:p>
          <a:p>
            <a:pPr>
              <a:spcAft>
                <a:spcPts val="1200"/>
              </a:spcAft>
              <a:defRPr sz="2000" b="0">
                <a:solidFill>
                  <a:srgbClr val="232A32"/>
                </a:solidFill>
              </a:defRPr>
            </a:pPr>
            <a:r>
              <a:t>Finding previous bills and payment status can be inconvenient without a centralized record.</a:t>
            </a:r>
          </a:p>
          <a:p>
            <a:pPr>
              <a:spcAft>
                <a:spcPts val="1200"/>
              </a:spcAft>
              <a:defRPr sz="2000" b="0">
                <a:solidFill>
                  <a:srgbClr val="232A32"/>
                </a:solidFill>
              </a:defRPr>
            </a:pPr>
            <a:r>
              <a:t>A computerized system can reduce repetitive work and provide faster access to billing information.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30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56539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052"/>
                </a:solidFill>
              </a:defRPr>
            </a:pPr>
            <a: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32A32"/>
                </a:solidFill>
              </a:defRPr>
            </a:pPr>
            <a:r>
              <a:t>Maintain consumer information such as consumer ID, name, address and contact details.</a:t>
            </a:r>
          </a:p>
          <a:p>
            <a:pPr>
              <a:spcAft>
                <a:spcPts val="1200"/>
              </a:spcAft>
              <a:defRPr sz="2000" b="0">
                <a:solidFill>
                  <a:srgbClr val="232A32"/>
                </a:solidFill>
              </a:defRPr>
            </a:pPr>
            <a:r>
              <a:t>Calculate electricity consumption from previous and current meter readings.</a:t>
            </a:r>
          </a:p>
          <a:p>
            <a:pPr>
              <a:spcAft>
                <a:spcPts val="1200"/>
              </a:spcAft>
              <a:defRPr sz="2000" b="0">
                <a:solidFill>
                  <a:srgbClr val="232A32"/>
                </a:solidFill>
              </a:defRPr>
            </a:pPr>
            <a:r>
              <a:t>Automatically calculate energy charges using configurable tariff slabs.</a:t>
            </a:r>
          </a:p>
          <a:p>
            <a:pPr>
              <a:spcAft>
                <a:spcPts val="1200"/>
              </a:spcAft>
              <a:defRPr sz="2000" b="0">
                <a:solidFill>
                  <a:srgbClr val="232A32"/>
                </a:solidFill>
              </a:defRPr>
            </a:pPr>
            <a:r>
              <a:t>Generate and store bills with payment status.</a:t>
            </a:r>
          </a:p>
          <a:p>
            <a:pPr>
              <a:spcAft>
                <a:spcPts val="1200"/>
              </a:spcAft>
              <a:defRPr sz="2000" b="0">
                <a:solidFill>
                  <a:srgbClr val="232A32"/>
                </a:solidFill>
              </a:defRPr>
            </a:pPr>
            <a:r>
              <a:t>Provide search, update, delete and reporting facilities for authorized users.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30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56539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052"/>
                </a:solidFill>
              </a:defRPr>
            </a:pPr>
            <a:r>
              <a:t>Major Modules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325880"/>
            <a:ext cx="10607040" cy="713232"/>
          </a:xfrm>
          <a:prstGeom prst="roundRect">
            <a:avLst/>
          </a:prstGeom>
          <a:solidFill>
            <a:srgbClr val="EFF5FB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35607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93052"/>
                </a:solidFill>
              </a:defRPr>
            </a:pPr>
            <a:r>
              <a:t>Consumer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435607"/>
            <a:ext cx="7132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A32"/>
                </a:solidFill>
              </a:defRPr>
            </a:pPr>
            <a:r>
              <a:t>Add, update, delete and search consumer records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258568"/>
            <a:ext cx="10607040" cy="713232"/>
          </a:xfrm>
          <a:prstGeom prst="roundRect">
            <a:avLst/>
          </a:prstGeom>
          <a:solidFill>
            <a:srgbClr val="EFF5FB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93052"/>
                </a:solidFill>
              </a:defRPr>
            </a:pPr>
            <a:r>
              <a:t>Meter Reading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368296"/>
            <a:ext cx="7132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A32"/>
                </a:solidFill>
              </a:defRPr>
            </a:pPr>
            <a:r>
              <a:t>Store previous and current readings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191256"/>
            <a:ext cx="10607040" cy="713232"/>
          </a:xfrm>
          <a:prstGeom prst="roundRect">
            <a:avLst/>
          </a:prstGeom>
          <a:solidFill>
            <a:srgbClr val="EFF5FB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300984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93052"/>
                </a:solidFill>
              </a:defRPr>
            </a:pPr>
            <a:r>
              <a:t>Bill Calculator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300984"/>
            <a:ext cx="7132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A32"/>
                </a:solidFill>
              </a:defRPr>
            </a:pPr>
            <a:r>
              <a:t>Compute units, slab charges and total bill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123944"/>
            <a:ext cx="10607040" cy="713232"/>
          </a:xfrm>
          <a:prstGeom prst="roundRect">
            <a:avLst/>
          </a:prstGeom>
          <a:solidFill>
            <a:srgbClr val="EFF5FB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233672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93052"/>
                </a:solidFill>
              </a:defRPr>
            </a:pPr>
            <a:r>
              <a:t>Bill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4233672"/>
            <a:ext cx="7132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A32"/>
                </a:solidFill>
              </a:defRPr>
            </a:pPr>
            <a:r>
              <a:t>View bill history and payment status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5056632"/>
            <a:ext cx="10607040" cy="713232"/>
          </a:xfrm>
          <a:prstGeom prst="roundRect">
            <a:avLst/>
          </a:prstGeom>
          <a:solidFill>
            <a:srgbClr val="EFF5FB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16636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93052"/>
                </a:solidFill>
              </a:defRPr>
            </a:pPr>
            <a:r>
              <a:t>Admin Module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5166360"/>
            <a:ext cx="7132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A32"/>
                </a:solidFill>
              </a:defRPr>
            </a:pPr>
            <a:r>
              <a:t>Manage tariff rates and system records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30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81360" y="656539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052"/>
                </a:solidFill>
              </a:defRPr>
            </a:pPr>
            <a:r>
              <a:t>Electricity Bill Calculation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32A32"/>
                </a:solidFill>
              </a:defRPr>
            </a:pPr>
            <a:r>
              <a:t>Step 1: Read the previous and current meter values.</a:t>
            </a:r>
          </a:p>
          <a:p>
            <a:pPr>
              <a:spcAft>
                <a:spcPts val="1200"/>
              </a:spcAft>
              <a:defRPr sz="2000" b="0">
                <a:solidFill>
                  <a:srgbClr val="232A32"/>
                </a:solidFill>
              </a:defRPr>
            </a:pPr>
            <a:r>
              <a:t>Step 2: Units consumed = Current Reading − Previous Reading.</a:t>
            </a:r>
          </a:p>
          <a:p>
            <a:pPr>
              <a:spcAft>
                <a:spcPts val="1200"/>
              </a:spcAft>
              <a:defRPr sz="2000" b="0">
                <a:solidFill>
                  <a:srgbClr val="232A32"/>
                </a:solidFill>
              </a:defRPr>
            </a:pPr>
            <a:r>
              <a:t>Step 3: Apply the configured tariff slabs to the consumed units.</a:t>
            </a:r>
          </a:p>
          <a:p>
            <a:pPr>
              <a:spcAft>
                <a:spcPts val="1200"/>
              </a:spcAft>
              <a:defRPr sz="2000" b="0">
                <a:solidFill>
                  <a:srgbClr val="232A32"/>
                </a:solidFill>
              </a:defRPr>
            </a:pPr>
            <a:r>
              <a:t>Step 4: Add fixed charges, taxes or other applicable charges.</a:t>
            </a:r>
          </a:p>
          <a:p>
            <a:pPr>
              <a:spcAft>
                <a:spcPts val="1200"/>
              </a:spcAft>
              <a:defRPr sz="2000" b="0">
                <a:solidFill>
                  <a:srgbClr val="232A32"/>
                </a:solidFill>
              </a:defRPr>
            </a:pPr>
            <a:r>
              <a:t>Step 5: Display and store the final bill amount.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5166360"/>
            <a:ext cx="10241280" cy="685800"/>
          </a:xfrm>
          <a:prstGeom prst="roundRect">
            <a:avLst/>
          </a:prstGeom>
          <a:solidFill>
            <a:srgbClr val="19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5321808"/>
            <a:ext cx="9784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Total Bill = Energy Charges + Fixed Charges + Applicable Taxes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30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656539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052"/>
                </a:solidFill>
              </a:defRPr>
            </a:pPr>
            <a:r>
              <a:t>Example Bill Calculation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7D"/>
                </a:solidFill>
              </a:defRPr>
            </a:pPr>
            <a:r>
              <a:t>Illustrative tariff only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371600"/>
          <a:ext cx="105156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600891"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Slab</a:t>
                      </a:r>
                    </a:p>
                  </a:txBody>
                  <a:tcPr>
                    <a:solidFill>
                      <a:srgbClr val="1930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Units</a:t>
                      </a:r>
                    </a:p>
                  </a:txBody>
                  <a:tcPr>
                    <a:solidFill>
                      <a:srgbClr val="1930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Rate</a:t>
                      </a:r>
                    </a:p>
                  </a:txBody>
                  <a:tcPr>
                    <a:solidFill>
                      <a:srgbClr val="1930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Amount</a:t>
                      </a:r>
                    </a:p>
                  </a:txBody>
                  <a:tcPr>
                    <a:solidFill>
                      <a:srgbClr val="193052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A32"/>
                          </a:solidFill>
                        </a:defRPr>
                      </a:pPr>
                      <a:r>
                        <a:t>0–100 units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A32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A32"/>
                          </a:solidFill>
                        </a:defRPr>
                      </a:pPr>
                      <a:r>
                        <a:t>₹2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A32"/>
                          </a:solidFill>
                        </a:defRPr>
                      </a:pPr>
                      <a:r>
                        <a:t>₹200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A32"/>
                          </a:solidFill>
                        </a:defRPr>
                      </a:pPr>
                      <a:r>
                        <a:t>101–200 units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A32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A32"/>
                          </a:solidFill>
                        </a:defRPr>
                      </a:pPr>
                      <a:r>
                        <a:t>₹3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A32"/>
                          </a:solidFill>
                        </a:defRPr>
                      </a:pPr>
                      <a:r>
                        <a:t>₹300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A32"/>
                          </a:solidFill>
                        </a:defRPr>
                      </a:pPr>
                      <a:r>
                        <a:t>201–250 units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A32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A32"/>
                          </a:solidFill>
                        </a:defRPr>
                      </a:pPr>
                      <a:r>
                        <a:t>₹5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A32"/>
                          </a:solidFill>
                        </a:defRPr>
                      </a:pPr>
                      <a:r>
                        <a:t>₹250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A32"/>
                          </a:solidFill>
                        </a:defRPr>
                      </a:pPr>
                      <a:r>
                        <a:t>Energy Charge</a:t>
                      </a:r>
                    </a:p>
                  </a:txBody>
                  <a:tcPr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A32"/>
                          </a:solidFill>
                        </a:defRPr>
                      </a:pPr>
                    </a:p>
                  </a:txBody>
                  <a:tcPr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A32"/>
                          </a:solidFill>
                        </a:defRPr>
                      </a:pPr>
                    </a:p>
                  </a:txBody>
                  <a:tcPr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A32"/>
                          </a:solidFill>
                        </a:defRPr>
                      </a:pPr>
                      <a:r>
                        <a:t>₹750</a:t>
                      </a:r>
                    </a:p>
                  </a:txBody>
                  <a:tcPr>
                    <a:solidFill>
                      <a:srgbClr val="EFF5FB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A32"/>
                          </a:solidFill>
                        </a:defRPr>
                      </a:pPr>
                      <a:r>
                        <a:t>Fixed Charge</a:t>
                      </a:r>
                    </a:p>
                  </a:txBody>
                  <a:tcPr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A32"/>
                          </a:solidFill>
                        </a:defRPr>
                      </a:pPr>
                    </a:p>
                  </a:txBody>
                  <a:tcPr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A32"/>
                          </a:solidFill>
                        </a:defRPr>
                      </a:pPr>
                    </a:p>
                  </a:txBody>
                  <a:tcPr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A32"/>
                          </a:solidFill>
                        </a:defRPr>
                      </a:pPr>
                      <a:r>
                        <a:t>₹100</a:t>
                      </a:r>
                    </a:p>
                  </a:txBody>
                  <a:tcPr>
                    <a:solidFill>
                      <a:srgbClr val="EFF5FB"/>
                    </a:solidFill>
                  </a:tcPr>
                </a:tc>
              </a:tr>
              <a:tr h="600894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32A32"/>
                          </a:solidFill>
                        </a:defRPr>
                      </a:pPr>
                      <a:r>
                        <a:t>Total Bill</a:t>
                      </a:r>
                    </a:p>
                  </a:txBody>
                  <a:tcPr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32A32"/>
                          </a:solidFill>
                        </a:defRPr>
                      </a:pPr>
                    </a:p>
                  </a:txBody>
                  <a:tcPr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32A32"/>
                          </a:solidFill>
                        </a:defRPr>
                      </a:pPr>
                    </a:p>
                  </a:txBody>
                  <a:tcPr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32A32"/>
                          </a:solidFill>
                        </a:defRPr>
                      </a:pPr>
                      <a:r>
                        <a:t>₹850</a:t>
                      </a:r>
                    </a:p>
                  </a:txBody>
                  <a:tcPr>
                    <a:solidFill>
                      <a:srgbClr val="EFF5FB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30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56539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052"/>
                </a:solidFill>
              </a:defRPr>
            </a:pPr>
            <a:r>
              <a:t>System Workflow</a:t>
            </a:r>
          </a:p>
        </p:txBody>
      </p:sp>
      <p:sp>
        <p:nvSpPr>
          <p:cNvPr id="4" name="Oval 3"/>
          <p:cNvSpPr/>
          <p:nvPr/>
        </p:nvSpPr>
        <p:spPr>
          <a:xfrm>
            <a:off x="685800" y="1417320"/>
            <a:ext cx="594360" cy="594360"/>
          </a:xfrm>
          <a:prstGeom prst="ellipse">
            <a:avLst/>
          </a:prstGeom>
          <a:solidFill>
            <a:srgbClr val="30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27048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9903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3052"/>
                </a:solidFill>
              </a:defRPr>
            </a:pPr>
            <a:r>
              <a:t>Login / Access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8288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37D"/>
                </a:solidFill>
              </a:defRPr>
            </a:pPr>
            <a:r>
              <a:t>Authorized user enters the system</a:t>
            </a:r>
          </a:p>
        </p:txBody>
      </p:sp>
      <p:sp>
        <p:nvSpPr>
          <p:cNvPr id="8" name="Oval 7"/>
          <p:cNvSpPr/>
          <p:nvPr/>
        </p:nvSpPr>
        <p:spPr>
          <a:xfrm>
            <a:off x="4480560" y="1417320"/>
            <a:ext cx="594360" cy="594360"/>
          </a:xfrm>
          <a:prstGeom prst="ellipse">
            <a:avLst/>
          </a:prstGeom>
          <a:solidFill>
            <a:srgbClr val="30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527048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57800" y="139903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3052"/>
                </a:solidFill>
              </a:defRPr>
            </a:pPr>
            <a:r>
              <a:t>Consumer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57800" y="18288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37D"/>
                </a:solidFill>
              </a:defRPr>
            </a:pPr>
            <a:r>
              <a:t>Select or create consumer record</a:t>
            </a:r>
          </a:p>
        </p:txBody>
      </p:sp>
      <p:sp>
        <p:nvSpPr>
          <p:cNvPr id="12" name="Oval 11"/>
          <p:cNvSpPr/>
          <p:nvPr/>
        </p:nvSpPr>
        <p:spPr>
          <a:xfrm>
            <a:off x="8275320" y="1417320"/>
            <a:ext cx="594360" cy="594360"/>
          </a:xfrm>
          <a:prstGeom prst="ellipse">
            <a:avLst/>
          </a:prstGeom>
          <a:solidFill>
            <a:srgbClr val="30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527048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39903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3052"/>
                </a:solidFill>
              </a:defRPr>
            </a:pPr>
            <a:r>
              <a:t>Meter Reading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18288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37D"/>
                </a:solidFill>
              </a:defRPr>
            </a:pPr>
            <a:r>
              <a:t>Enter previous and current readings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3657600"/>
            <a:ext cx="594360" cy="594360"/>
          </a:xfrm>
          <a:prstGeom prst="ellipse">
            <a:avLst/>
          </a:prstGeom>
          <a:solidFill>
            <a:srgbClr val="30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767328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63931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3052"/>
                </a:solidFill>
              </a:defRPr>
            </a:pPr>
            <a:r>
              <a:t>Calculation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06908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37D"/>
                </a:solidFill>
              </a:defRPr>
            </a:pPr>
            <a:r>
              <a:t>System calculates units and charges</a:t>
            </a:r>
          </a:p>
        </p:txBody>
      </p:sp>
      <p:sp>
        <p:nvSpPr>
          <p:cNvPr id="20" name="Oval 19"/>
          <p:cNvSpPr/>
          <p:nvPr/>
        </p:nvSpPr>
        <p:spPr>
          <a:xfrm>
            <a:off x="4480560" y="3657600"/>
            <a:ext cx="594360" cy="594360"/>
          </a:xfrm>
          <a:prstGeom prst="ellipse">
            <a:avLst/>
          </a:prstGeom>
          <a:solidFill>
            <a:srgbClr val="30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3767328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7800" y="363931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3052"/>
                </a:solidFill>
              </a:defRPr>
            </a:pPr>
            <a:r>
              <a:t>Bill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7800" y="406908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37D"/>
                </a:solidFill>
              </a:defRPr>
            </a:pPr>
            <a:r>
              <a:t>Generate and save the bill</a:t>
            </a:r>
          </a:p>
        </p:txBody>
      </p:sp>
      <p:sp>
        <p:nvSpPr>
          <p:cNvPr id="24" name="Oval 23"/>
          <p:cNvSpPr/>
          <p:nvPr/>
        </p:nvSpPr>
        <p:spPr>
          <a:xfrm>
            <a:off x="8275320" y="3657600"/>
            <a:ext cx="594360" cy="594360"/>
          </a:xfrm>
          <a:prstGeom prst="ellipse">
            <a:avLst/>
          </a:prstGeom>
          <a:solidFill>
            <a:srgbClr val="30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5320" y="3767328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363931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3052"/>
                </a:solidFill>
              </a:defRPr>
            </a:pPr>
            <a:r>
              <a:t>Payment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406908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37D"/>
                </a:solidFill>
              </a:defRPr>
            </a:pPr>
            <a:r>
              <a:t>Update payment status and history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30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881360" y="656539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052"/>
                </a:solidFill>
              </a:defRPr>
            </a:pPr>
            <a:r>
              <a:t>Technology &amp; Data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32A32"/>
                </a:solidFill>
              </a:defRPr>
            </a:pPr>
            <a:r>
              <a:t>Frontend: Console / Java Swing / JavaFX / Web interface, depending on project requirements.</a:t>
            </a:r>
          </a:p>
          <a:p>
            <a:pPr>
              <a:spcAft>
                <a:spcPts val="1200"/>
              </a:spcAft>
              <a:defRPr sz="2000" b="0">
                <a:solidFill>
                  <a:srgbClr val="232A32"/>
                </a:solidFill>
              </a:defRPr>
            </a:pPr>
            <a:r>
              <a:t>Backend: Java application logic for consumer management and bill calculation.</a:t>
            </a:r>
          </a:p>
          <a:p>
            <a:pPr>
              <a:spcAft>
                <a:spcPts val="1200"/>
              </a:spcAft>
              <a:defRPr sz="2000" b="0">
                <a:solidFill>
                  <a:srgbClr val="232A32"/>
                </a:solidFill>
              </a:defRPr>
            </a:pPr>
            <a:r>
              <a:t>Database: MySQL or another relational database for persistent consumer and bill records.</a:t>
            </a:r>
          </a:p>
          <a:p>
            <a:pPr>
              <a:spcAft>
                <a:spcPts val="1200"/>
              </a:spcAft>
              <a:defRPr sz="2000" b="0">
                <a:solidFill>
                  <a:srgbClr val="232A32"/>
                </a:solidFill>
              </a:defRPr>
            </a:pPr>
            <a:r>
              <a:t>Core entities: Consumer, Meter Reading, Tariff, Bill and Payment.</a:t>
            </a:r>
          </a:p>
          <a:p>
            <a:pPr>
              <a:spcAft>
                <a:spcPts val="1200"/>
              </a:spcAft>
              <a:defRPr sz="2000" b="0">
                <a:solidFill>
                  <a:srgbClr val="232A32"/>
                </a:solidFill>
              </a:defRPr>
            </a:pPr>
            <a:r>
              <a:t>Validation ensures readings are valid and the current reading is not lower than the previous reading.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30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56539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052"/>
                </a:solidFill>
              </a:defRPr>
            </a:pPr>
            <a:r>
              <a:t>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32A32"/>
                </a:solidFill>
              </a:defRPr>
            </a:pPr>
            <a:r>
              <a:t>Faster electricity bill calculation.</a:t>
            </a:r>
          </a:p>
          <a:p>
            <a:pPr>
              <a:spcAft>
                <a:spcPts val="1200"/>
              </a:spcAft>
              <a:defRPr sz="2000" b="0">
                <a:solidFill>
                  <a:srgbClr val="232A32"/>
                </a:solidFill>
              </a:defRPr>
            </a:pPr>
            <a:r>
              <a:t>Reduced manual calculation errors.</a:t>
            </a:r>
          </a:p>
          <a:p>
            <a:pPr>
              <a:spcAft>
                <a:spcPts val="1200"/>
              </a:spcAft>
              <a:defRPr sz="2000" b="0">
                <a:solidFill>
                  <a:srgbClr val="232A32"/>
                </a:solidFill>
              </a:defRPr>
            </a:pPr>
            <a:r>
              <a:t>Centralized consumer and billing records.</a:t>
            </a:r>
          </a:p>
          <a:p>
            <a:pPr>
              <a:spcAft>
                <a:spcPts val="1200"/>
              </a:spcAft>
              <a:defRPr sz="2000" b="0">
                <a:solidFill>
                  <a:srgbClr val="232A32"/>
                </a:solidFill>
              </a:defRPr>
            </a:pPr>
            <a:r>
              <a:t>Easy access to bill history and payment status.</a:t>
            </a:r>
          </a:p>
          <a:p>
            <a:pPr>
              <a:spcAft>
                <a:spcPts val="1200"/>
              </a:spcAft>
              <a:defRPr sz="2000" b="0">
                <a:solidFill>
                  <a:srgbClr val="232A32"/>
                </a:solidFill>
              </a:defRPr>
            </a:pPr>
            <a:r>
              <a:t>Tariff rates can be updated without changing the overall workflow.</a:t>
            </a:r>
          </a:p>
          <a:p>
            <a:pPr>
              <a:spcAft>
                <a:spcPts val="1200"/>
              </a:spcAft>
              <a:defRPr sz="2000" b="0">
                <a:solidFill>
                  <a:srgbClr val="232A32"/>
                </a:solidFill>
              </a:defRPr>
            </a:pPr>
            <a:r>
              <a:t>The system can be extended for multiple billing cycles and reporting.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30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56539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052"/>
                </a:solidFill>
              </a:defRPr>
            </a:pPr>
            <a:r>
              <a:t>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32A32"/>
                </a:solidFill>
              </a:defRPr>
            </a:pPr>
            <a:r>
              <a:t>Online consumer portal for viewing and downloading bills.</a:t>
            </a:r>
          </a:p>
          <a:p>
            <a:pPr>
              <a:spcAft>
                <a:spcPts val="1200"/>
              </a:spcAft>
              <a:defRPr sz="2000" b="0">
                <a:solidFill>
                  <a:srgbClr val="232A32"/>
                </a:solidFill>
              </a:defRPr>
            </a:pPr>
            <a:r>
              <a:t>Online payment gateway integration.</a:t>
            </a:r>
          </a:p>
          <a:p>
            <a:pPr>
              <a:spcAft>
                <a:spcPts val="1200"/>
              </a:spcAft>
              <a:defRPr sz="2000" b="0">
                <a:solidFill>
                  <a:srgbClr val="232A32"/>
                </a:solidFill>
              </a:defRPr>
            </a:pPr>
            <a:r>
              <a:t>SMS or email notifications for generated and overdue bills.</a:t>
            </a:r>
          </a:p>
          <a:p>
            <a:pPr>
              <a:spcAft>
                <a:spcPts val="1200"/>
              </a:spcAft>
              <a:defRPr sz="2000" b="0">
                <a:solidFill>
                  <a:srgbClr val="232A32"/>
                </a:solidFill>
              </a:defRPr>
            </a:pPr>
            <a:r>
              <a:t>Automatic meter-reading integration using smart meters.</a:t>
            </a:r>
          </a:p>
          <a:p>
            <a:pPr>
              <a:spcAft>
                <a:spcPts val="1200"/>
              </a:spcAft>
              <a:defRPr sz="2000" b="0">
                <a:solidFill>
                  <a:srgbClr val="232A32"/>
                </a:solidFill>
              </a:defRPr>
            </a:pPr>
            <a:r>
              <a:t>Charts and dashboards for consumption analysis.</a:t>
            </a:r>
          </a:p>
          <a:p>
            <a:pPr>
              <a:spcAft>
                <a:spcPts val="1200"/>
              </a:spcAft>
              <a:defRPr sz="2000" b="0">
                <a:solidFill>
                  <a:srgbClr val="232A32"/>
                </a:solidFill>
              </a:defRPr>
            </a:pPr>
            <a:r>
              <a:t>Role-based access for administrators, staff and consumers.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30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56539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4612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CDDCEE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